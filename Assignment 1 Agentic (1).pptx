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3200400" cy="1828800"/>
  <p:notesSz cx="6858000" cy="9144000"/>
  <p:embeddedFontLst>
    <p:embeddedFont>
      <p:font typeface="Arimo Bold" panose="020B0604020202020204" charset="0"/>
      <p:regular r:id="rId8"/>
    </p:embeddedFont>
    <p:embeddedFont>
      <p:font typeface="Norwester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58304-C86A-29D7-8AF3-1223B588ED5E}" v="1" dt="2026-03-09T20:53:50.269"/>
    <p1510:client id="{D5765F02-F154-4CB6-84A9-33BF90352318}" v="182" dt="2026-03-09T20:43:20.744"/>
    <p1510:client id="{F0E0AD74-95DE-475E-AB3A-D4DBA4DB4B3D}" v="14" dt="2026-03-09T20:32:46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27520" y="28982"/>
            <a:ext cx="1302939" cy="1004349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0" y="0"/>
                </a:moveTo>
                <a:lnTo>
                  <a:pt x="1302939" y="0"/>
                </a:lnTo>
                <a:lnTo>
                  <a:pt x="1302939" y="1004349"/>
                </a:lnTo>
                <a:lnTo>
                  <a:pt x="0" y="1004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2224981" y="795469"/>
            <a:ext cx="1302939" cy="1004349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1302939" y="1004349"/>
                </a:moveTo>
                <a:lnTo>
                  <a:pt x="0" y="1004349"/>
                </a:lnTo>
                <a:lnTo>
                  <a:pt x="0" y="0"/>
                </a:lnTo>
                <a:lnTo>
                  <a:pt x="1302939" y="0"/>
                </a:lnTo>
                <a:lnTo>
                  <a:pt x="1302939" y="10043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30381">
            <a:off x="-14798" y="931776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0" y="0"/>
                </a:moveTo>
                <a:lnTo>
                  <a:pt x="964969" y="0"/>
                </a:lnTo>
                <a:lnTo>
                  <a:pt x="964969" y="1347315"/>
                </a:lnTo>
                <a:lnTo>
                  <a:pt x="0" y="134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30381" flipH="1" flipV="1">
            <a:off x="2250229" y="-450291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964969" y="1347315"/>
                </a:moveTo>
                <a:lnTo>
                  <a:pt x="0" y="1347315"/>
                </a:lnTo>
                <a:lnTo>
                  <a:pt x="0" y="0"/>
                </a:lnTo>
                <a:lnTo>
                  <a:pt x="964969" y="0"/>
                </a:lnTo>
                <a:lnTo>
                  <a:pt x="964969" y="1347315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4067" y="360658"/>
            <a:ext cx="1740209" cy="98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ar-EG" sz="900" dirty="0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نظام</a:t>
            </a:r>
            <a:r>
              <a:rPr lang="ar-EG" sz="900" dirty="0">
                <a:solidFill>
                  <a:srgbClr val="004AAD"/>
                </a:solidFill>
                <a:ea typeface="+mn-lt"/>
                <a:cs typeface="+mn-lt"/>
              </a:rPr>
              <a:t> JARVIS - مهندس المنصات الذكي</a:t>
            </a:r>
            <a:endParaRPr lang="ar-SA" dirty="0">
              <a:ea typeface="+mn-lt"/>
              <a:cs typeface="+mn-lt"/>
            </a:endParaRPr>
          </a:p>
          <a:p>
            <a:pPr algn="ctr" rtl="1"/>
            <a:endParaRPr lang="ar-EG" sz="900" dirty="0">
              <a:solidFill>
                <a:srgbClr val="004AAD"/>
              </a:solidFill>
              <a:ea typeface="+mn-lt"/>
              <a:cs typeface="+mn-lt"/>
            </a:endParaRPr>
          </a:p>
          <a:p>
            <a:pPr algn="ctr" rtl="1"/>
            <a:r>
              <a:rPr lang="ar-EG" sz="900" err="1">
                <a:solidFill>
                  <a:srgbClr val="004AAD"/>
                </a:solidFill>
                <a:ea typeface="+mn-lt"/>
                <a:cs typeface="+mn-lt"/>
              </a:rPr>
              <a:t>by</a:t>
            </a:r>
            <a:r>
              <a:rPr lang="ar-EG" sz="900" dirty="0">
                <a:solidFill>
                  <a:srgbClr val="004AAD"/>
                </a:solidFill>
                <a:ea typeface="+mn-lt"/>
                <a:cs typeface="+mn-lt"/>
              </a:rPr>
              <a:t> </a:t>
            </a:r>
            <a:r>
              <a:rPr lang="ar-EG" sz="900" err="1">
                <a:solidFill>
                  <a:srgbClr val="004AAD"/>
                </a:solidFill>
                <a:ea typeface="+mn-lt"/>
                <a:cs typeface="+mn-lt"/>
              </a:rPr>
              <a:t>Cisco</a:t>
            </a:r>
            <a:r>
              <a:rPr lang="ar-EG" sz="900">
                <a:solidFill>
                  <a:srgbClr val="004AAD"/>
                </a:solidFill>
                <a:ea typeface="+mn-lt"/>
                <a:cs typeface="+mn-lt"/>
              </a:rPr>
              <a:t> – </a:t>
            </a:r>
            <a:r>
              <a:rPr lang="ar-EG" sz="900" dirty="0">
                <a:solidFill>
                  <a:srgbClr val="004AAD"/>
                </a:solidFill>
                <a:ea typeface="+mn-lt"/>
                <a:cs typeface="+mn-lt"/>
              </a:rPr>
              <a:t>Outshift</a:t>
            </a:r>
            <a:endParaRPr lang="ar-EG">
              <a:solidFill>
                <a:srgbClr val="000000"/>
              </a:solidFill>
              <a:ea typeface="+mn-lt"/>
              <a:cs typeface="+mn-lt"/>
            </a:endParaRPr>
          </a:p>
          <a:p>
            <a:pPr algn="ctr" rtl="1"/>
            <a:endParaRPr lang="ar-EG" sz="900" dirty="0">
              <a:solidFill>
                <a:srgbClr val="004AAD"/>
              </a:solidFill>
              <a:ea typeface="+mn-lt"/>
              <a:cs typeface="+mn-lt"/>
            </a:endParaRPr>
          </a:p>
          <a:p>
            <a:pPr algn="ctr" rtl="1"/>
            <a:r>
              <a:rPr lang="ar-EG" sz="800" dirty="0">
                <a:solidFill>
                  <a:srgbClr val="004AAD"/>
                </a:solidFill>
                <a:ea typeface="+mn-lt"/>
                <a:cs typeface="+mn-lt"/>
              </a:rPr>
              <a:t>اريج </a:t>
            </a:r>
            <a:r>
              <a:rPr lang="ar-EG" sz="800" err="1">
                <a:solidFill>
                  <a:srgbClr val="004AAD"/>
                </a:solidFill>
                <a:ea typeface="+mn-lt"/>
                <a:cs typeface="+mn-lt"/>
              </a:rPr>
              <a:t>الزايدي</a:t>
            </a:r>
            <a:endParaRPr lang="ar-EG" sz="800">
              <a:ea typeface="+mn-lt"/>
              <a:cs typeface="+mn-lt"/>
            </a:endParaRPr>
          </a:p>
          <a:p>
            <a:pPr algn="ctr" rtl="1"/>
            <a:r>
              <a:rPr lang="ar-EG" sz="800" dirty="0">
                <a:solidFill>
                  <a:srgbClr val="004AAD"/>
                </a:solidFill>
                <a:ea typeface="+mn-lt"/>
                <a:cs typeface="+mn-lt"/>
              </a:rPr>
              <a:t>بكالوريوس تقنية معلومات</a:t>
            </a:r>
            <a:endParaRPr lang="ar-EG" sz="800" dirty="0">
              <a:ea typeface="+mn-lt"/>
              <a:cs typeface="+mn-lt"/>
            </a:endParaRPr>
          </a:p>
          <a:p>
            <a:pPr algn="ctr" rtl="1">
              <a:lnSpc>
                <a:spcPts val="1319"/>
              </a:lnSpc>
            </a:pPr>
            <a:endParaRPr lang="ar-EG" sz="900" dirty="0">
              <a:solidFill>
                <a:srgbClr val="004AAD"/>
              </a:solidFill>
              <a:latin typeface="Norwester"/>
              <a:cs typeface="Arial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58808" y="1525554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58808" y="223367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27520" y="28982"/>
            <a:ext cx="1302939" cy="1004349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0" y="0"/>
                </a:moveTo>
                <a:lnTo>
                  <a:pt x="1302939" y="0"/>
                </a:lnTo>
                <a:lnTo>
                  <a:pt x="1302939" y="1004349"/>
                </a:lnTo>
                <a:lnTo>
                  <a:pt x="0" y="1004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200000" flipH="1" flipV="1">
            <a:off x="2593689" y="1016696"/>
            <a:ext cx="872287" cy="750677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1302939" y="1004349"/>
                </a:moveTo>
                <a:lnTo>
                  <a:pt x="0" y="1004349"/>
                </a:lnTo>
                <a:lnTo>
                  <a:pt x="0" y="0"/>
                </a:lnTo>
                <a:lnTo>
                  <a:pt x="1302939" y="0"/>
                </a:lnTo>
                <a:lnTo>
                  <a:pt x="1302939" y="10043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30381">
            <a:off x="-14798" y="931776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0" y="0"/>
                </a:moveTo>
                <a:lnTo>
                  <a:pt x="964969" y="0"/>
                </a:lnTo>
                <a:lnTo>
                  <a:pt x="964969" y="1347315"/>
                </a:lnTo>
                <a:lnTo>
                  <a:pt x="0" y="134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30381" flipH="1" flipV="1">
            <a:off x="2250229" y="-450291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964969" y="1347315"/>
                </a:moveTo>
                <a:lnTo>
                  <a:pt x="0" y="1347315"/>
                </a:lnTo>
                <a:lnTo>
                  <a:pt x="0" y="0"/>
                </a:lnTo>
                <a:lnTo>
                  <a:pt x="964969" y="0"/>
                </a:lnTo>
                <a:lnTo>
                  <a:pt x="964969" y="1347315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8808" y="1525554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8808" y="223367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51804" y="573779"/>
            <a:ext cx="548640" cy="5486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4452" y="631266"/>
            <a:ext cx="920257" cy="55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ar-EG" sz="600">
                <a:solidFill>
                  <a:srgbClr val="004AAD"/>
                </a:solidFill>
                <a:ea typeface="+mn-lt"/>
                <a:cs typeface="+mn-lt"/>
              </a:rPr>
              <a:t>دمج تقنيات متقدمة</a:t>
            </a:r>
            <a:endParaRPr lang="ar-SA"/>
          </a:p>
          <a:p>
            <a:pPr algn="ctr" rtl="1"/>
            <a:r>
              <a:rPr lang="ar-EG" sz="600" dirty="0">
                <a:solidFill>
                  <a:srgbClr val="004AAD"/>
                </a:solidFill>
                <a:ea typeface="+mn-lt"/>
                <a:cs typeface="+mn-lt"/>
              </a:rPr>
              <a:t>يجمع بين تقنيات الذكاء الاصطناعي المتقدمة والمكونات البرمجية التقليدية لتقديم حلول شاملة وموثوقة للمطورين</a:t>
            </a:r>
            <a:endParaRPr lang="ar-EG" dirty="0"/>
          </a:p>
          <a:p>
            <a:pPr algn="ctr" rtl="1">
              <a:lnSpc>
                <a:spcPts val="803"/>
              </a:lnSpc>
              <a:spcBef>
                <a:spcPct val="0"/>
              </a:spcBef>
            </a:pPr>
            <a:endParaRPr lang="ar-EG" sz="550" dirty="0">
              <a:solidFill>
                <a:srgbClr val="004AAD"/>
              </a:solidFill>
              <a:latin typeface="Norwester"/>
              <a:ea typeface="Norwester"/>
              <a:cs typeface="Norwes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44785" y="687584"/>
            <a:ext cx="873063" cy="655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ar-EG" sz="600">
                <a:solidFill>
                  <a:srgbClr val="004AAD"/>
                </a:solidFill>
                <a:ea typeface="+mn-lt"/>
                <a:cs typeface="+mn-lt"/>
              </a:rPr>
              <a:t>أتمتة ذكية للمهام المعقدة</a:t>
            </a:r>
            <a:endParaRPr lang="ar-SA"/>
          </a:p>
          <a:p>
            <a:pPr algn="ctr" rtl="1"/>
            <a:r>
              <a:rPr lang="ar-EG" sz="600">
                <a:solidFill>
                  <a:srgbClr val="004AAD"/>
                </a:solidFill>
                <a:ea typeface="+mn-lt"/>
                <a:cs typeface="+mn-lt"/>
              </a:rPr>
              <a:t>يقوم بحل المشكلات التقنية بشكل مستقل، ويختار الأدوات المناسبة تلقائياً، ويتعامل مع البنية التحتية السحابية بكفاءة عالية</a:t>
            </a:r>
            <a:endParaRPr lang="ar-EG"/>
          </a:p>
          <a:p>
            <a:pPr algn="ctr" rtl="1">
              <a:lnSpc>
                <a:spcPts val="803"/>
              </a:lnSpc>
            </a:pPr>
            <a:endParaRPr lang="ar-EG" sz="550" dirty="0">
              <a:solidFill>
                <a:srgbClr val="004AAD"/>
              </a:solidFill>
              <a:latin typeface="Norwester"/>
              <a:ea typeface="Norwester"/>
              <a:cs typeface="Norwester"/>
            </a:endParaRPr>
          </a:p>
          <a:p>
            <a:pPr algn="ctr" rtl="1">
              <a:lnSpc>
                <a:spcPts val="804"/>
              </a:lnSpc>
              <a:spcBef>
                <a:spcPct val="0"/>
              </a:spcBef>
            </a:pPr>
            <a:endParaRPr lang="ar-EG" sz="574">
              <a:solidFill>
                <a:srgbClr val="000000"/>
              </a:solidFill>
              <a:latin typeface="Norwester"/>
              <a:ea typeface="Norwester"/>
              <a:cs typeface="Norwester"/>
              <a:sym typeface="Norwester"/>
              <a:rtl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53244" y="631540"/>
            <a:ext cx="920257" cy="645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ar-EG" sz="600">
                <a:solidFill>
                  <a:srgbClr val="004AAD"/>
                </a:solidFill>
                <a:ea typeface="+mn-lt"/>
                <a:cs typeface="+mn-lt"/>
              </a:rPr>
              <a:t>مهندس منصات ذكي مدعوم بالذكاء الاصطناعي</a:t>
            </a:r>
            <a:endParaRPr lang="ar-SA"/>
          </a:p>
          <a:p>
            <a:pPr algn="ctr" rtl="1"/>
            <a:r>
              <a:rPr lang="ar-EG" sz="600" dirty="0">
                <a:solidFill>
                  <a:srgbClr val="004AAD"/>
                </a:solidFill>
                <a:ea typeface="+mn-lt"/>
                <a:cs typeface="+mn-lt"/>
              </a:rPr>
              <a:t>نظام JARVIS هو مهندس منصات ذكي يستخدم الذكاء الاصطناعي لأتمتة المهام المعقدة للمطورين مثل تجهيز البنية التحتية وإدارة عمليات CI/CD</a:t>
            </a:r>
            <a:endParaRPr lang="ar-EG" dirty="0"/>
          </a:p>
          <a:p>
            <a:pPr algn="ctr" rtl="1">
              <a:lnSpc>
                <a:spcPts val="803"/>
              </a:lnSpc>
            </a:pPr>
            <a:endParaRPr lang="ar-EG" sz="550" dirty="0">
              <a:solidFill>
                <a:srgbClr val="004AAD"/>
              </a:solidFill>
              <a:latin typeface="Norwester"/>
              <a:ea typeface="Norwester"/>
              <a:cs typeface="Norwes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27520" y="28982"/>
            <a:ext cx="1302939" cy="1004349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0" y="0"/>
                </a:moveTo>
                <a:lnTo>
                  <a:pt x="1302939" y="0"/>
                </a:lnTo>
                <a:lnTo>
                  <a:pt x="1302939" y="1004349"/>
                </a:lnTo>
                <a:lnTo>
                  <a:pt x="0" y="1004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200000" flipH="1" flipV="1">
            <a:off x="2481573" y="728600"/>
            <a:ext cx="1237625" cy="967027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1302939" y="1004349"/>
                </a:moveTo>
                <a:lnTo>
                  <a:pt x="0" y="1004349"/>
                </a:lnTo>
                <a:lnTo>
                  <a:pt x="0" y="0"/>
                </a:lnTo>
                <a:lnTo>
                  <a:pt x="1302939" y="0"/>
                </a:lnTo>
                <a:lnTo>
                  <a:pt x="1302939" y="10043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30381">
            <a:off x="-14798" y="931776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0" y="0"/>
                </a:moveTo>
                <a:lnTo>
                  <a:pt x="964969" y="0"/>
                </a:lnTo>
                <a:lnTo>
                  <a:pt x="964969" y="1347315"/>
                </a:lnTo>
                <a:lnTo>
                  <a:pt x="0" y="134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30381" flipH="1" flipV="1">
            <a:off x="2250229" y="-450291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964969" y="1347315"/>
                </a:moveTo>
                <a:lnTo>
                  <a:pt x="0" y="1347315"/>
                </a:lnTo>
                <a:lnTo>
                  <a:pt x="0" y="0"/>
                </a:lnTo>
                <a:lnTo>
                  <a:pt x="964969" y="0"/>
                </a:lnTo>
                <a:lnTo>
                  <a:pt x="964969" y="1347315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8808" y="1525554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8808" y="223367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51804" y="573779"/>
            <a:ext cx="548640" cy="5486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5019" y="690160"/>
            <a:ext cx="920257" cy="55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ar-EG" sz="600" dirty="0">
                <a:ea typeface="+mn-lt"/>
                <a:cs typeface="+mn-lt"/>
              </a:rPr>
              <a:t>التصحيح الذاتي (</a:t>
            </a:r>
            <a:r>
              <a:rPr lang="ar-EG" sz="600" dirty="0" err="1">
                <a:ea typeface="+mn-lt"/>
                <a:cs typeface="+mn-lt"/>
              </a:rPr>
              <a:t>Self-Correction</a:t>
            </a:r>
            <a:r>
              <a:rPr lang="ar-EG" sz="600" dirty="0">
                <a:ea typeface="+mn-lt"/>
                <a:cs typeface="+mn-lt"/>
              </a:rPr>
              <a:t>)</a:t>
            </a:r>
            <a:endParaRPr lang="ar-SA">
              <a:ea typeface="Calibri"/>
              <a:cs typeface="Arial"/>
            </a:endParaRPr>
          </a:p>
          <a:p>
            <a:pPr algn="ctr" rtl="1"/>
            <a:r>
              <a:rPr lang="ar-EG" sz="600" dirty="0">
                <a:solidFill>
                  <a:srgbClr val="004AAD"/>
                </a:solidFill>
                <a:ea typeface="+mn-lt"/>
                <a:cs typeface="+mn-lt"/>
              </a:rPr>
              <a:t>يستخدم تقنية </a:t>
            </a:r>
            <a:r>
              <a:rPr lang="ar-EG" sz="600" dirty="0" err="1">
                <a:solidFill>
                  <a:srgbClr val="004AAD"/>
                </a:solidFill>
                <a:ea typeface="+mn-lt"/>
                <a:cs typeface="+mn-lt"/>
              </a:rPr>
              <a:t>Reflection</a:t>
            </a:r>
            <a:r>
              <a:rPr lang="ar-EG" sz="600" dirty="0">
                <a:solidFill>
                  <a:srgbClr val="004AAD"/>
                </a:solidFill>
                <a:ea typeface="+mn-lt"/>
                <a:cs typeface="+mn-lt"/>
              </a:rPr>
              <a:t> لمراجعة الكود الذي أنتجه؛ فإذا وجد خطأ في إعدادات </a:t>
            </a:r>
            <a:r>
              <a:rPr lang="ar-EG" sz="600" dirty="0" err="1">
                <a:solidFill>
                  <a:srgbClr val="004AAD"/>
                </a:solidFill>
                <a:ea typeface="+mn-lt"/>
                <a:cs typeface="+mn-lt"/>
              </a:rPr>
              <a:t>Kubernetes</a:t>
            </a:r>
            <a:r>
              <a:rPr lang="ar-EG" sz="600" dirty="0">
                <a:solidFill>
                  <a:srgbClr val="004AAD"/>
                </a:solidFill>
                <a:ea typeface="+mn-lt"/>
                <a:cs typeface="+mn-lt"/>
              </a:rPr>
              <a:t>، يقوم بتعديله قبل تقديمه للمستخدم</a:t>
            </a:r>
            <a:endParaRPr lang="ar-EG" dirty="0"/>
          </a:p>
          <a:p>
            <a:pPr algn="ctr" rtl="1">
              <a:lnSpc>
                <a:spcPts val="803"/>
              </a:lnSpc>
            </a:pPr>
            <a:endParaRPr lang="ar-EG" sz="550" dirty="0">
              <a:solidFill>
                <a:srgbClr val="004AAD"/>
              </a:solidFill>
              <a:latin typeface="Norwester"/>
              <a:ea typeface="Norwester"/>
              <a:cs typeface="Norwes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49815" y="690160"/>
            <a:ext cx="920257" cy="737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ar-EG" sz="600">
                <a:ea typeface="+mn-lt"/>
                <a:cs typeface="+mn-lt"/>
                <a:sym typeface="Norwester"/>
              </a:rPr>
              <a:t>التفكير والتخطيط (</a:t>
            </a:r>
            <a:r>
              <a:rPr lang="ar-EG" sz="600" err="1">
                <a:ea typeface="+mn-lt"/>
                <a:cs typeface="+mn-lt"/>
                <a:sym typeface="Norwester"/>
              </a:rPr>
              <a:t>Reasoning</a:t>
            </a:r>
            <a:r>
              <a:rPr lang="ar-EG" sz="600">
                <a:ea typeface="+mn-lt"/>
                <a:cs typeface="+mn-lt"/>
                <a:sym typeface="Norwester"/>
              </a:rPr>
              <a:t> &amp; Planning)</a:t>
            </a:r>
            <a:endParaRPr lang="ar-SA">
              <a:ea typeface="+mn-lt"/>
              <a:cs typeface="+mn-lt"/>
            </a:endParaRPr>
          </a:p>
          <a:p>
            <a:pPr algn="ctr" rtl="1"/>
            <a:r>
              <a:rPr lang="ar-EG" sz="600">
                <a:solidFill>
                  <a:srgbClr val="004AAD"/>
                </a:solidFill>
                <a:ea typeface="+mn-lt"/>
                <a:cs typeface="+mn-lt"/>
                <a:sym typeface="Norwester"/>
              </a:rPr>
              <a:t>عندما يطلب المطور تجهيز بيئة اختبار، يقوم الوكيل بتحليل الطلب، وتقسيمه إلى خطوات، واختيار الأدوات المناسبة مثل Kubernetes أو Terraform بشكل تلقائي</a:t>
            </a:r>
            <a:endParaRPr lang="ar-EG">
              <a:ea typeface="+mn-lt"/>
              <a:cs typeface="+mn-lt"/>
            </a:endParaRPr>
          </a:p>
          <a:p>
            <a:pPr algn="ctr" rtl="1">
              <a:lnSpc>
                <a:spcPts val="803"/>
              </a:lnSpc>
            </a:pPr>
            <a:endParaRPr lang="ar-EG" sz="550" dirty="0">
              <a:solidFill>
                <a:srgbClr val="004AAD"/>
              </a:solidFill>
              <a:latin typeface="Norwester"/>
              <a:ea typeface="Norwester"/>
              <a:cs typeface="Norwest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08172" y="690160"/>
            <a:ext cx="920257" cy="737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ar-EG" sz="600" dirty="0">
                <a:ea typeface="+mn-lt"/>
                <a:cs typeface="+mn-lt"/>
              </a:rPr>
              <a:t>نظام متعدد الوكلاء (</a:t>
            </a:r>
            <a:r>
              <a:rPr lang="ar-EG" sz="600" err="1">
                <a:ea typeface="+mn-lt"/>
                <a:cs typeface="+mn-lt"/>
              </a:rPr>
              <a:t>Multi-Agent</a:t>
            </a:r>
            <a:r>
              <a:rPr lang="ar-EG" sz="600" dirty="0">
                <a:ea typeface="+mn-lt"/>
                <a:cs typeface="+mn-lt"/>
              </a:rPr>
              <a:t> </a:t>
            </a:r>
            <a:r>
              <a:rPr lang="ar-EG" sz="600" err="1">
                <a:ea typeface="+mn-lt"/>
                <a:cs typeface="+mn-lt"/>
              </a:rPr>
              <a:t>System</a:t>
            </a:r>
            <a:r>
              <a:rPr lang="ar-EG" sz="600" dirty="0">
                <a:ea typeface="+mn-lt"/>
                <a:cs typeface="+mn-lt"/>
              </a:rPr>
              <a:t>)</a:t>
            </a:r>
            <a:endParaRPr lang="ar-SA" dirty="0"/>
          </a:p>
          <a:p>
            <a:pPr algn="ctr" rtl="1"/>
            <a:r>
              <a:rPr lang="ar-EG" sz="600" dirty="0">
                <a:solidFill>
                  <a:srgbClr val="004AAD"/>
                </a:solidFill>
                <a:ea typeface="+mn-lt"/>
                <a:cs typeface="+mn-lt"/>
              </a:rPr>
              <a:t>يتكون JARVIS من أكثر من 15 وكيل (</a:t>
            </a:r>
            <a:r>
              <a:rPr lang="ar-EG" sz="600" dirty="0" err="1">
                <a:solidFill>
                  <a:srgbClr val="004AAD"/>
                </a:solidFill>
                <a:ea typeface="+mn-lt"/>
                <a:cs typeface="+mn-lt"/>
              </a:rPr>
              <a:t>Agent</a:t>
            </a:r>
            <a:r>
              <a:rPr lang="ar-EG" sz="600" dirty="0">
                <a:solidFill>
                  <a:srgbClr val="004AAD"/>
                </a:solidFill>
                <a:ea typeface="+mn-lt"/>
                <a:cs typeface="+mn-lt"/>
              </a:rPr>
              <a:t>) متخصص. الوكيل المشرف (</a:t>
            </a:r>
            <a:r>
              <a:rPr lang="ar-EG" sz="600" dirty="0" err="1">
                <a:solidFill>
                  <a:srgbClr val="004AAD"/>
                </a:solidFill>
                <a:ea typeface="+mn-lt"/>
                <a:cs typeface="+mn-lt"/>
              </a:rPr>
              <a:t>Supervisor</a:t>
            </a:r>
            <a:r>
              <a:rPr lang="ar-EG" sz="600" dirty="0">
                <a:solidFill>
                  <a:srgbClr val="004AAD"/>
                </a:solidFill>
                <a:ea typeface="+mn-lt"/>
                <a:cs typeface="+mn-lt"/>
              </a:rPr>
              <a:t>) يقرر أي وكيل فرعي هو الأنسب لحل طلب المستخدم بناءً على طبيعة المهمة</a:t>
            </a:r>
            <a:endParaRPr lang="ar-EG" dirty="0"/>
          </a:p>
          <a:p>
            <a:pPr algn="ctr" rtl="1">
              <a:lnSpc>
                <a:spcPts val="803"/>
              </a:lnSpc>
            </a:pPr>
            <a:endParaRPr lang="ar-EG" sz="550" dirty="0">
              <a:solidFill>
                <a:srgbClr val="004AAD"/>
              </a:solidFill>
              <a:latin typeface="Norwester"/>
              <a:ea typeface="Norwester"/>
              <a:cs typeface="Norwes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7687" y="447336"/>
            <a:ext cx="2389485" cy="154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260"/>
              </a:lnSpc>
              <a:spcBef>
                <a:spcPct val="0"/>
              </a:spcBef>
            </a:pPr>
            <a:r>
              <a:rPr lang="ar-EG" sz="900" dirty="0">
                <a:solidFill>
                  <a:srgbClr val="004AAD"/>
                </a:solidFill>
                <a:ea typeface="+mn-lt"/>
                <a:cs typeface="+mn-lt"/>
              </a:rPr>
              <a:t>الذكاء الوكيل (</a:t>
            </a:r>
            <a:r>
              <a:rPr lang="ar-EG" sz="900" dirty="0" err="1">
                <a:solidFill>
                  <a:srgbClr val="004AAD"/>
                </a:solidFill>
                <a:ea typeface="+mn-lt"/>
                <a:cs typeface="+mn-lt"/>
              </a:rPr>
              <a:t>Agentic</a:t>
            </a:r>
            <a:r>
              <a:rPr lang="ar-EG" sz="900" dirty="0">
                <a:solidFill>
                  <a:srgbClr val="004AAD"/>
                </a:solidFill>
                <a:ea typeface="+mn-lt"/>
                <a:cs typeface="+mn-lt"/>
              </a:rPr>
              <a:t>): التفكير واتخاذ القرارات الذاتية</a:t>
            </a:r>
            <a:endParaRPr lang="ar-S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27520" y="28982"/>
            <a:ext cx="1302939" cy="1004349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0" y="0"/>
                </a:moveTo>
                <a:lnTo>
                  <a:pt x="1302939" y="0"/>
                </a:lnTo>
                <a:lnTo>
                  <a:pt x="1302939" y="1004349"/>
                </a:lnTo>
                <a:lnTo>
                  <a:pt x="0" y="1004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200000" flipH="1" flipV="1">
            <a:off x="2458247" y="717713"/>
            <a:ext cx="1299829" cy="920374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1302939" y="1004349"/>
                </a:moveTo>
                <a:lnTo>
                  <a:pt x="0" y="1004349"/>
                </a:lnTo>
                <a:lnTo>
                  <a:pt x="0" y="0"/>
                </a:lnTo>
                <a:lnTo>
                  <a:pt x="1302939" y="0"/>
                </a:lnTo>
                <a:lnTo>
                  <a:pt x="1302939" y="10043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30381">
            <a:off x="-14798" y="931776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0" y="0"/>
                </a:moveTo>
                <a:lnTo>
                  <a:pt x="964969" y="0"/>
                </a:lnTo>
                <a:lnTo>
                  <a:pt x="964969" y="1347315"/>
                </a:lnTo>
                <a:lnTo>
                  <a:pt x="0" y="134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30381" flipH="1" flipV="1">
            <a:off x="2250229" y="-450291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964969" y="1347315"/>
                </a:moveTo>
                <a:lnTo>
                  <a:pt x="0" y="1347315"/>
                </a:lnTo>
                <a:lnTo>
                  <a:pt x="0" y="0"/>
                </a:lnTo>
                <a:lnTo>
                  <a:pt x="964969" y="0"/>
                </a:lnTo>
                <a:lnTo>
                  <a:pt x="964969" y="1347315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8808" y="1525554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8808" y="223367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51804" y="573779"/>
            <a:ext cx="548640" cy="5486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4568" y="674410"/>
            <a:ext cx="920257" cy="55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ar-EG" sz="600">
                <a:solidFill>
                  <a:srgbClr val="000000"/>
                </a:solidFill>
                <a:ea typeface="+mn-lt"/>
                <a:cs typeface="+mn-lt"/>
              </a:rPr>
              <a:t>بروتوكول ACP</a:t>
            </a:r>
            <a:endParaRPr lang="ar-SA"/>
          </a:p>
          <a:p>
            <a:pPr algn="ctr" rtl="1"/>
            <a:r>
              <a:rPr lang="ar-EG" sz="600">
                <a:solidFill>
                  <a:srgbClr val="000000"/>
                </a:solidFill>
                <a:ea typeface="+mn-lt"/>
                <a:cs typeface="+mn-lt"/>
              </a:rPr>
              <a:t>بروتوكول اتصال (</a:t>
            </a:r>
            <a:r>
              <a:rPr lang="ar-EG" sz="600" err="1">
                <a:solidFill>
                  <a:srgbClr val="000000"/>
                </a:solidFill>
                <a:ea typeface="+mn-lt"/>
                <a:cs typeface="+mn-lt"/>
              </a:rPr>
              <a:t>Standard</a:t>
            </a:r>
            <a:r>
              <a:rPr lang="ar-EG" sz="600">
                <a:solidFill>
                  <a:srgbClr val="000000"/>
                </a:solidFill>
                <a:ea typeface="+mn-lt"/>
                <a:cs typeface="+mn-lt"/>
              </a:rPr>
              <a:t> Protocol) يربط بين الوكلاء المختلفين لضمان تبادل البيانات بشكل تقني سليم ومنظم</a:t>
            </a:r>
            <a:endParaRPr lang="ar-EG"/>
          </a:p>
          <a:p>
            <a:pPr algn="ctr" rtl="1">
              <a:lnSpc>
                <a:spcPts val="803"/>
              </a:lnSpc>
              <a:spcBef>
                <a:spcPct val="0"/>
              </a:spcBef>
            </a:pPr>
            <a:endParaRPr lang="ar-EG" sz="550" dirty="0">
              <a:solidFill>
                <a:srgbClr val="000000"/>
              </a:solidFill>
              <a:latin typeface="Norwester"/>
              <a:ea typeface="Norwester"/>
              <a:cs typeface="Norwes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60722" y="672892"/>
            <a:ext cx="920257" cy="737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ar-EG" sz="600" dirty="0">
                <a:solidFill>
                  <a:srgbClr val="000000"/>
                </a:solidFill>
                <a:ea typeface="+mn-lt"/>
                <a:cs typeface="+mn-lt"/>
              </a:rPr>
              <a:t>قواعد التحقق (</a:t>
            </a:r>
            <a:r>
              <a:rPr lang="ar-EG" sz="600" dirty="0" err="1">
                <a:solidFill>
                  <a:srgbClr val="000000"/>
                </a:solidFill>
                <a:ea typeface="+mn-lt"/>
                <a:cs typeface="+mn-lt"/>
              </a:rPr>
              <a:t>Rule-based</a:t>
            </a:r>
            <a:r>
              <a:rPr lang="ar-EG" sz="600" dirty="0">
                <a:solidFill>
                  <a:srgbClr val="000000"/>
                </a:solidFill>
                <a:ea typeface="+mn-lt"/>
                <a:cs typeface="+mn-lt"/>
              </a:rPr>
              <a:t> Validation)</a:t>
            </a:r>
            <a:endParaRPr lang="ar-SA" dirty="0">
              <a:ea typeface="+mn-lt"/>
              <a:cs typeface="+mn-lt"/>
            </a:endParaRPr>
          </a:p>
          <a:p>
            <a:pPr algn="ctr" rtl="1"/>
            <a:r>
              <a:rPr lang="ar-EG" sz="600" dirty="0">
                <a:solidFill>
                  <a:srgbClr val="000000"/>
                </a:solidFill>
                <a:ea typeface="+mn-lt"/>
                <a:cs typeface="+mn-lt"/>
              </a:rPr>
              <a:t>يستخدم النظام المنطق الرمزي (Symbolic Logic) للتأكد من أن أسماء الملفات أو الإعدادات تتبع سياسات الشركة الصارمة باستخدام كود برمجي تقليدي (If-Else)</a:t>
            </a:r>
            <a:endParaRPr lang="ar-EG" dirty="0">
              <a:ea typeface="+mn-lt"/>
              <a:cs typeface="+mn-lt"/>
            </a:endParaRPr>
          </a:p>
          <a:p>
            <a:pPr algn="ctr" rtl="1">
              <a:lnSpc>
                <a:spcPts val="803"/>
              </a:lnSpc>
              <a:spcBef>
                <a:spcPct val="0"/>
              </a:spcBef>
            </a:pPr>
            <a:endParaRPr lang="ar-EG" sz="550" dirty="0">
              <a:solidFill>
                <a:srgbClr val="000000"/>
              </a:solidFill>
              <a:latin typeface="Norwester"/>
              <a:ea typeface="Norwester"/>
              <a:cs typeface="Norwest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81951" y="672892"/>
            <a:ext cx="920257" cy="55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en-US" sz="600" dirty="0" err="1">
                <a:ea typeface="+mn-lt"/>
                <a:cs typeface="+mn-lt"/>
              </a:rPr>
              <a:t>قواعد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البيانات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وGraphRAG</a:t>
            </a:r>
            <a:endParaRPr lang="ar-SA" dirty="0">
              <a:ea typeface="Calibri"/>
              <a:cs typeface="Arial"/>
            </a:endParaRPr>
          </a:p>
          <a:p>
            <a:pPr algn="ctr" rtl="1"/>
            <a:r>
              <a:rPr lang="en-US" sz="600" dirty="0" err="1">
                <a:ea typeface="+mn-lt"/>
                <a:cs typeface="+mn-lt"/>
              </a:rPr>
              <a:t>تخزين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المستندات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والسياسات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الخاصة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بسيسكو</a:t>
            </a:r>
            <a:r>
              <a:rPr lang="en-US" sz="600" dirty="0">
                <a:ea typeface="+mn-lt"/>
                <a:cs typeface="+mn-lt"/>
              </a:rPr>
              <a:t>. </a:t>
            </a:r>
            <a:r>
              <a:rPr lang="en-US" sz="600" dirty="0" err="1">
                <a:ea typeface="+mn-lt"/>
                <a:cs typeface="+mn-lt"/>
              </a:rPr>
              <a:t>الذكاء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الاصطناعي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يسترجعها</a:t>
            </a:r>
            <a:r>
              <a:rPr lang="en-US" sz="600" dirty="0">
                <a:ea typeface="+mn-lt"/>
                <a:cs typeface="+mn-lt"/>
              </a:rPr>
              <a:t>، </a:t>
            </a:r>
            <a:r>
              <a:rPr lang="en-US" sz="600" dirty="0" err="1">
                <a:ea typeface="+mn-lt"/>
                <a:cs typeface="+mn-lt"/>
              </a:rPr>
              <a:t>لكن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التخزين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والفهرسة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هي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عمليات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برمجية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تقليدية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لا</a:t>
            </a:r>
            <a:r>
              <a:rPr lang="en-US" sz="600" dirty="0">
                <a:ea typeface="+mn-lt"/>
                <a:cs typeface="+mn-lt"/>
              </a:rPr>
              <a:t> </a:t>
            </a:r>
            <a:r>
              <a:rPr lang="en-US" sz="600" dirty="0" err="1">
                <a:ea typeface="+mn-lt"/>
                <a:cs typeface="+mn-lt"/>
              </a:rPr>
              <a:t>تفكر</a:t>
            </a:r>
            <a:endParaRPr lang="en-US">
              <a:ea typeface="Calibri"/>
              <a:cs typeface="Calibri"/>
            </a:endParaRPr>
          </a:p>
          <a:p>
            <a:pPr algn="ctr" rtl="1">
              <a:lnSpc>
                <a:spcPts val="803"/>
              </a:lnSpc>
            </a:pPr>
            <a:endParaRPr lang="en-US" sz="550" dirty="0">
              <a:latin typeface="Norwester"/>
              <a:ea typeface="Norwester"/>
              <a:cs typeface="Norwes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2880" y="337559"/>
            <a:ext cx="3075942" cy="154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260"/>
              </a:lnSpc>
            </a:pPr>
            <a:r>
              <a:rPr lang="ar-EG" sz="900" dirty="0">
                <a:solidFill>
                  <a:srgbClr val="004AAD"/>
                </a:solidFill>
                <a:ea typeface="+mn-lt"/>
                <a:cs typeface="+mn-lt"/>
              </a:rPr>
              <a:t>المكونات غير المعتمدة على الذكاء الاصطناعي: الأساس التقني الموثوق</a:t>
            </a:r>
            <a:endParaRPr lang="ar-S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27520" y="28982"/>
            <a:ext cx="1302939" cy="1004349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0" y="0"/>
                </a:moveTo>
                <a:lnTo>
                  <a:pt x="1302939" y="0"/>
                </a:lnTo>
                <a:lnTo>
                  <a:pt x="1302939" y="1004349"/>
                </a:lnTo>
                <a:lnTo>
                  <a:pt x="0" y="1004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2224981" y="795469"/>
            <a:ext cx="1302939" cy="1004349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1302939" y="1004349"/>
                </a:moveTo>
                <a:lnTo>
                  <a:pt x="0" y="1004349"/>
                </a:lnTo>
                <a:lnTo>
                  <a:pt x="0" y="0"/>
                </a:lnTo>
                <a:lnTo>
                  <a:pt x="1302939" y="0"/>
                </a:lnTo>
                <a:lnTo>
                  <a:pt x="1302939" y="10043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30381">
            <a:off x="-14798" y="931776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0" y="0"/>
                </a:moveTo>
                <a:lnTo>
                  <a:pt x="964969" y="0"/>
                </a:lnTo>
                <a:lnTo>
                  <a:pt x="964969" y="1347315"/>
                </a:lnTo>
                <a:lnTo>
                  <a:pt x="0" y="134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30381" flipH="1" flipV="1">
            <a:off x="2250229" y="-450291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964969" y="1347315"/>
                </a:moveTo>
                <a:lnTo>
                  <a:pt x="0" y="1347315"/>
                </a:lnTo>
                <a:lnTo>
                  <a:pt x="0" y="0"/>
                </a:lnTo>
                <a:lnTo>
                  <a:pt x="964969" y="0"/>
                </a:lnTo>
                <a:lnTo>
                  <a:pt x="964969" y="1347315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8808" y="1525554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8808" y="223367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4657" y="669029"/>
            <a:ext cx="1066418" cy="452795"/>
            <a:chOff x="0" y="0"/>
            <a:chExt cx="1579879" cy="6708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9878" cy="670808"/>
            </a:xfrm>
            <a:custGeom>
              <a:avLst/>
              <a:gdLst/>
              <a:ahLst/>
              <a:cxnLst/>
              <a:rect l="l" t="t" r="r" b="b"/>
              <a:pathLst>
                <a:path w="1579878" h="670808">
                  <a:moveTo>
                    <a:pt x="0" y="0"/>
                  </a:moveTo>
                  <a:lnTo>
                    <a:pt x="1579878" y="0"/>
                  </a:lnTo>
                  <a:lnTo>
                    <a:pt x="1579878" y="670808"/>
                  </a:lnTo>
                  <a:lnTo>
                    <a:pt x="0" y="670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579879" cy="689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40"/>
                </a:lnSpc>
              </a:pPr>
              <a:r>
                <a:rPr lang="en-US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10X</a:t>
              </a:r>
            </a:p>
            <a:p>
              <a:pPr algn="ctr" rtl="1">
                <a:lnSpc>
                  <a:spcPts val="700"/>
                </a:lnSpc>
              </a:pPr>
              <a:r>
                <a:rPr lang="ar-EG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زيادة الإنتاجية</a:t>
              </a:r>
            </a:p>
            <a:p>
              <a:pPr algn="ctr">
                <a:lnSpc>
                  <a:spcPts val="700"/>
                </a:lnSpc>
              </a:pPr>
              <a:r>
                <a:rPr lang="ar-EG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زيادة بمعدل </a:t>
              </a:r>
              <a:r>
                <a:rPr lang="en-US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</a:t>
              </a:r>
              <a:r>
                <a:rPr lang="ar-EG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 أضعاف</a:t>
              </a:r>
            </a:p>
            <a:p>
              <a:pPr algn="ctr">
                <a:lnSpc>
                  <a:spcPts val="700"/>
                </a:lnSpc>
              </a:pPr>
              <a:endParaRPr lang="ar-EG" sz="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03309" y="375659"/>
            <a:ext cx="1049453" cy="202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679"/>
              </a:lnSpc>
              <a:spcBef>
                <a:spcPct val="0"/>
              </a:spcBef>
            </a:pPr>
            <a:r>
              <a:rPr lang="ar-EG" sz="1200" dirty="0">
                <a:solidFill>
                  <a:srgbClr val="004AAD"/>
                </a:solidFill>
                <a:ea typeface="+mn-lt"/>
                <a:cs typeface="+mn-lt"/>
              </a:rPr>
              <a:t>النتائج المذهلة</a:t>
            </a:r>
            <a:endParaRPr lang="ar-SA" dirty="0"/>
          </a:p>
        </p:txBody>
      </p:sp>
      <p:grpSp>
        <p:nvGrpSpPr>
          <p:cNvPr id="12" name="Group 12"/>
          <p:cNvGrpSpPr/>
          <p:nvPr/>
        </p:nvGrpSpPr>
        <p:grpSpPr>
          <a:xfrm>
            <a:off x="1689075" y="739531"/>
            <a:ext cx="1143874" cy="239236"/>
            <a:chOff x="0" y="0"/>
            <a:chExt cx="1694628" cy="3544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4628" cy="354423"/>
            </a:xfrm>
            <a:custGeom>
              <a:avLst/>
              <a:gdLst/>
              <a:ahLst/>
              <a:cxnLst/>
              <a:rect l="l" t="t" r="r" b="b"/>
              <a:pathLst>
                <a:path w="1694628" h="354423">
                  <a:moveTo>
                    <a:pt x="0" y="0"/>
                  </a:moveTo>
                  <a:lnTo>
                    <a:pt x="1694628" y="0"/>
                  </a:lnTo>
                  <a:lnTo>
                    <a:pt x="1694628" y="354423"/>
                  </a:lnTo>
                  <a:lnTo>
                    <a:pt x="0" y="3544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694628" cy="373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07958" y="573973"/>
            <a:ext cx="668493" cy="807883"/>
            <a:chOff x="0" y="0"/>
            <a:chExt cx="990359" cy="11968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90359" cy="1196864"/>
            </a:xfrm>
            <a:custGeom>
              <a:avLst/>
              <a:gdLst/>
              <a:ahLst/>
              <a:cxnLst/>
              <a:rect l="l" t="t" r="r" b="b"/>
              <a:pathLst>
                <a:path w="990359" h="1196864">
                  <a:moveTo>
                    <a:pt x="0" y="0"/>
                  </a:moveTo>
                  <a:lnTo>
                    <a:pt x="990359" y="0"/>
                  </a:lnTo>
                  <a:lnTo>
                    <a:pt x="990359" y="1196864"/>
                  </a:lnTo>
                  <a:lnTo>
                    <a:pt x="0" y="11968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90359" cy="1215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rtl="1">
                <a:lnSpc>
                  <a:spcPts val="840"/>
                </a:lnSpc>
              </a:pPr>
              <a:r>
                <a:rPr lang="en-US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99%</a:t>
              </a:r>
            </a:p>
            <a:p>
              <a:pPr algn="ctr" rtl="1">
                <a:lnSpc>
                  <a:spcPts val="840"/>
                </a:lnSpc>
              </a:pPr>
              <a:r>
                <a:rPr lang="ar-EG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تسريع الانجاز </a:t>
              </a:r>
            </a:p>
            <a:p>
              <a:pPr algn="ctr" rtl="1">
                <a:lnSpc>
                  <a:spcPts val="840"/>
                </a:lnSpc>
              </a:pPr>
              <a:r>
                <a:rPr lang="ar-EG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زيادة بمعدل </a:t>
              </a:r>
              <a:r>
                <a:rPr lang="en-US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</a:t>
              </a:r>
              <a:r>
                <a:rPr lang="ar-EG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 أضعاف</a:t>
              </a:r>
            </a:p>
            <a:p>
              <a:pPr algn="ctr" rtl="1">
                <a:lnSpc>
                  <a:spcPts val="420"/>
                </a:lnSpc>
              </a:pPr>
              <a:r>
                <a:rPr lang="ar-EG" sz="3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تقليل الوقت من أسبوع إلى ساعة</a:t>
              </a:r>
            </a:p>
            <a:p>
              <a:pPr algn="ctr" rtl="1">
                <a:lnSpc>
                  <a:spcPts val="980"/>
                </a:lnSpc>
              </a:pPr>
              <a:endParaRPr lang="ar-EG" sz="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endParaRPr>
            </a:p>
            <a:p>
              <a:pPr algn="ctr">
                <a:lnSpc>
                  <a:spcPts val="980"/>
                </a:lnSpc>
              </a:pPr>
              <a:endParaRPr lang="ar-EG" sz="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0166" y="614917"/>
            <a:ext cx="1209950" cy="682727"/>
            <a:chOff x="0" y="0"/>
            <a:chExt cx="1792518" cy="10114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92518" cy="1011447"/>
            </a:xfrm>
            <a:custGeom>
              <a:avLst/>
              <a:gdLst/>
              <a:ahLst/>
              <a:cxnLst/>
              <a:rect l="l" t="t" r="r" b="b"/>
              <a:pathLst>
                <a:path w="1792518" h="1011447">
                  <a:moveTo>
                    <a:pt x="0" y="0"/>
                  </a:moveTo>
                  <a:lnTo>
                    <a:pt x="1792518" y="0"/>
                  </a:lnTo>
                  <a:lnTo>
                    <a:pt x="1792518" y="1011447"/>
                  </a:lnTo>
                  <a:lnTo>
                    <a:pt x="0" y="10114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792518" cy="1030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rtl="1">
                <a:lnSpc>
                  <a:spcPts val="840"/>
                </a:lnSpc>
              </a:pPr>
              <a:r>
                <a:rPr lang="en-US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99%</a:t>
              </a:r>
            </a:p>
            <a:p>
              <a:pPr algn="ctr" rtl="1">
                <a:lnSpc>
                  <a:spcPts val="840"/>
                </a:lnSpc>
              </a:pPr>
              <a:r>
                <a:rPr lang="ar-EG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تسريع الانجاز </a:t>
              </a:r>
            </a:p>
            <a:p>
              <a:pPr algn="ctr" rtl="1">
                <a:lnSpc>
                  <a:spcPts val="840"/>
                </a:lnSpc>
              </a:pPr>
              <a:r>
                <a:rPr lang="ar-EG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زيادة بمعدل </a:t>
              </a:r>
              <a:r>
                <a:rPr lang="en-US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</a:t>
              </a:r>
              <a:r>
                <a:rPr lang="ar-EG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 أضعاف</a:t>
              </a:r>
            </a:p>
            <a:p>
              <a:pPr algn="ctr" rtl="1">
                <a:lnSpc>
                  <a:spcPts val="560"/>
                </a:lnSpc>
              </a:pPr>
              <a:r>
                <a:rPr lang="ar-EG" sz="4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تقليل الوقت من أسبوع إلى ساعة</a:t>
              </a:r>
            </a:p>
            <a:p>
              <a:pPr algn="ctr" rtl="1">
                <a:lnSpc>
                  <a:spcPts val="840"/>
                </a:lnSpc>
              </a:pPr>
              <a:endParaRPr lang="ar-EG" sz="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endParaRPr>
            </a:p>
            <a:p>
              <a:pPr algn="ctr">
                <a:lnSpc>
                  <a:spcPts val="840"/>
                </a:lnSpc>
              </a:pPr>
              <a:endParaRPr lang="ar-EG" sz="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71075" y="1079280"/>
            <a:ext cx="1038048" cy="818079"/>
            <a:chOff x="0" y="-19050"/>
            <a:chExt cx="1537848" cy="12119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59518" cy="1192919"/>
            </a:xfrm>
            <a:custGeom>
              <a:avLst/>
              <a:gdLst/>
              <a:ahLst/>
              <a:cxnLst/>
              <a:rect l="l" t="t" r="r" b="b"/>
              <a:pathLst>
                <a:path w="1459518" h="1192919">
                  <a:moveTo>
                    <a:pt x="0" y="0"/>
                  </a:moveTo>
                  <a:lnTo>
                    <a:pt x="1459518" y="0"/>
                  </a:lnTo>
                  <a:lnTo>
                    <a:pt x="1459518" y="1192919"/>
                  </a:lnTo>
                  <a:lnTo>
                    <a:pt x="0" y="11929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8330" y="-19050"/>
              <a:ext cx="1459518" cy="1211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rtl="1">
                <a:lnSpc>
                  <a:spcPts val="700"/>
                </a:lnSpc>
              </a:pPr>
              <a:r>
                <a:rPr lang="ar-EG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تقليل وقت إعداد أنابيب </a:t>
              </a:r>
              <a:r>
                <a:rPr lang="en-US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CI/CD</a:t>
              </a:r>
            </a:p>
            <a:p>
              <a:pPr algn="ctr">
                <a:lnSpc>
                  <a:spcPts val="700"/>
                </a:lnSpc>
              </a:pPr>
              <a:r>
                <a:rPr lang="ar-EG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تقليل الوقت المستغرق لإعداد أنابيب البيانات</a:t>
              </a:r>
              <a:r>
                <a:rPr lang="en-US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CI/CD </a:t>
              </a:r>
              <a:r>
                <a:rPr lang="ar-EG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من أسبوع كامل إلى أقل من ساعة واحدة فقط</a:t>
              </a:r>
            </a:p>
            <a:p>
              <a:pPr algn="ctr">
                <a:lnSpc>
                  <a:spcPts val="560"/>
                </a:lnSpc>
              </a:pPr>
              <a:endParaRPr lang="ar-EG" sz="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8858" y="1182626"/>
            <a:ext cx="1066418" cy="624245"/>
            <a:chOff x="0" y="0"/>
            <a:chExt cx="1579879" cy="9248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79878" cy="924808"/>
            </a:xfrm>
            <a:custGeom>
              <a:avLst/>
              <a:gdLst/>
              <a:ahLst/>
              <a:cxnLst/>
              <a:rect l="l" t="t" r="r" b="b"/>
              <a:pathLst>
                <a:path w="1579878" h="924808">
                  <a:moveTo>
                    <a:pt x="0" y="0"/>
                  </a:moveTo>
                  <a:lnTo>
                    <a:pt x="1579878" y="0"/>
                  </a:lnTo>
                  <a:lnTo>
                    <a:pt x="1579878" y="924808"/>
                  </a:lnTo>
                  <a:lnTo>
                    <a:pt x="0" y="924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579879" cy="943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rtl="1">
                <a:lnSpc>
                  <a:spcPts val="840"/>
                </a:lnSpc>
              </a:pPr>
              <a:r>
                <a:rPr lang="ar-EG" sz="6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تحسين جودة الكود</a:t>
              </a:r>
            </a:p>
            <a:p>
              <a:pPr algn="ctr" rtl="1">
                <a:lnSpc>
                  <a:spcPts val="700"/>
                </a:lnSpc>
              </a:pPr>
              <a:r>
                <a:rPr lang="ar-EG" sz="5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  <a:rtl/>
                </a:rPr>
                <a:t>تحسين جودة الكود من خلال التصحيح الذاتي والمراجعة الآلية قبل النشر</a:t>
              </a:r>
            </a:p>
            <a:p>
              <a:pPr algn="ctr">
                <a:lnSpc>
                  <a:spcPts val="700"/>
                </a:lnSpc>
              </a:pPr>
              <a:endParaRPr lang="ar-EG" sz="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endParaRPr>
            </a:p>
            <a:p>
              <a:pPr algn="ctr">
                <a:lnSpc>
                  <a:spcPts val="700"/>
                </a:lnSpc>
              </a:pPr>
              <a:endParaRPr lang="ar-EG" sz="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27520" y="28982"/>
            <a:ext cx="1302939" cy="1004349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0" y="0"/>
                </a:moveTo>
                <a:lnTo>
                  <a:pt x="1302939" y="0"/>
                </a:lnTo>
                <a:lnTo>
                  <a:pt x="1302939" y="1004349"/>
                </a:lnTo>
                <a:lnTo>
                  <a:pt x="0" y="1004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2224981" y="795469"/>
            <a:ext cx="1302939" cy="1004349"/>
          </a:xfrm>
          <a:custGeom>
            <a:avLst/>
            <a:gdLst/>
            <a:ahLst/>
            <a:cxnLst/>
            <a:rect l="l" t="t" r="r" b="b"/>
            <a:pathLst>
              <a:path w="1302939" h="1004349">
                <a:moveTo>
                  <a:pt x="1302939" y="1004349"/>
                </a:moveTo>
                <a:lnTo>
                  <a:pt x="0" y="1004349"/>
                </a:lnTo>
                <a:lnTo>
                  <a:pt x="0" y="0"/>
                </a:lnTo>
                <a:lnTo>
                  <a:pt x="1302939" y="0"/>
                </a:lnTo>
                <a:lnTo>
                  <a:pt x="1302939" y="10043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30381">
            <a:off x="-14798" y="931776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0" y="0"/>
                </a:moveTo>
                <a:lnTo>
                  <a:pt x="964969" y="0"/>
                </a:lnTo>
                <a:lnTo>
                  <a:pt x="964969" y="1347315"/>
                </a:lnTo>
                <a:lnTo>
                  <a:pt x="0" y="134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30381" flipH="1" flipV="1">
            <a:off x="2250229" y="-450291"/>
            <a:ext cx="964969" cy="1347315"/>
          </a:xfrm>
          <a:custGeom>
            <a:avLst/>
            <a:gdLst/>
            <a:ahLst/>
            <a:cxnLst/>
            <a:rect l="l" t="t" r="r" b="b"/>
            <a:pathLst>
              <a:path w="964969" h="1347315">
                <a:moveTo>
                  <a:pt x="964969" y="1347315"/>
                </a:moveTo>
                <a:lnTo>
                  <a:pt x="0" y="1347315"/>
                </a:lnTo>
                <a:lnTo>
                  <a:pt x="0" y="0"/>
                </a:lnTo>
                <a:lnTo>
                  <a:pt x="964969" y="0"/>
                </a:lnTo>
                <a:lnTo>
                  <a:pt x="964969" y="1347315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8808" y="1525554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8808" y="223367"/>
            <a:ext cx="482785" cy="79879"/>
          </a:xfrm>
          <a:custGeom>
            <a:avLst/>
            <a:gdLst/>
            <a:ahLst/>
            <a:cxnLst/>
            <a:rect l="l" t="t" r="r" b="b"/>
            <a:pathLst>
              <a:path w="482785" h="79879">
                <a:moveTo>
                  <a:pt x="0" y="0"/>
                </a:moveTo>
                <a:lnTo>
                  <a:pt x="482784" y="0"/>
                </a:lnTo>
                <a:lnTo>
                  <a:pt x="482784" y="79879"/>
                </a:lnTo>
                <a:lnTo>
                  <a:pt x="0" y="7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689075" y="739531"/>
            <a:ext cx="1143874" cy="239236"/>
            <a:chOff x="0" y="0"/>
            <a:chExt cx="1694628" cy="3544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4628" cy="354423"/>
            </a:xfrm>
            <a:custGeom>
              <a:avLst/>
              <a:gdLst/>
              <a:ahLst/>
              <a:cxnLst/>
              <a:rect l="l" t="t" r="r" b="b"/>
              <a:pathLst>
                <a:path w="1694628" h="354423">
                  <a:moveTo>
                    <a:pt x="0" y="0"/>
                  </a:moveTo>
                  <a:lnTo>
                    <a:pt x="1694628" y="0"/>
                  </a:lnTo>
                  <a:lnTo>
                    <a:pt x="1694628" y="354423"/>
                  </a:lnTo>
                  <a:lnTo>
                    <a:pt x="0" y="3544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694628" cy="373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592711"/>
            <a:ext cx="3122101" cy="81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19"/>
              </a:lnSpc>
              <a:spcBef>
                <a:spcPct val="0"/>
              </a:spcBef>
            </a:pPr>
            <a:r>
              <a:rPr lang="ar-EG" sz="12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rPr>
              <a:t>شكراً لكم</a:t>
            </a:r>
          </a:p>
          <a:p>
            <a:pPr algn="ctr" rtl="1">
              <a:lnSpc>
                <a:spcPts val="1819"/>
              </a:lnSpc>
              <a:spcBef>
                <a:spcPct val="0"/>
              </a:spcBef>
            </a:pPr>
            <a:endParaRPr lang="ar-EG" sz="1299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  <a:rtl/>
            </a:endParaRPr>
          </a:p>
          <a:p>
            <a:pPr algn="ctr" rtl="1">
              <a:lnSpc>
                <a:spcPts val="1400"/>
              </a:lnSpc>
              <a:spcBef>
                <a:spcPct val="0"/>
              </a:spcBef>
            </a:pPr>
            <a:r>
              <a:rPr lang="ar-EG" sz="10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rPr>
              <a:t>نظام </a:t>
            </a:r>
            <a:r>
              <a:rPr lang="en-US" sz="1000" b="1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JARVIS</a:t>
            </a:r>
            <a:r>
              <a:rPr lang="ar-EG" sz="10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rPr>
              <a:t> من </a:t>
            </a:r>
            <a:r>
              <a:rPr lang="en-US" sz="10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Cisco </a:t>
            </a:r>
            <a:r>
              <a:rPr lang="en-US" sz="10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Outshift</a:t>
            </a:r>
            <a:r>
              <a:rPr lang="ar-EG" sz="10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rtl/>
              </a:rPr>
              <a:t> يمثل مستقبل هندسة المنصات الذكية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مخصص</PresentationFormat>
  <Paragraphs>0</Paragraphs>
  <Slides>6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7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Business Card</dc:title>
  <cp:revision>69</cp:revision>
  <dcterms:created xsi:type="dcterms:W3CDTF">2006-08-16T00:00:00Z</dcterms:created>
  <dcterms:modified xsi:type="dcterms:W3CDTF">2026-03-10T00:13:14Z</dcterms:modified>
  <dc:identifier>DAHDe2MsbhI</dc:identifier>
</cp:coreProperties>
</file>